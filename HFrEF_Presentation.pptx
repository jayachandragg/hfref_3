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20"/>
  </p:notesMasterIdLst>
  <p:sldIdLst>
    <p:sldId id="256" r:id="rId4"/>
    <p:sldId id="257" r:id="rId5"/>
    <p:sldId id="258" r:id="rId6"/>
    <p:sldId id="272" r:id="rId7"/>
    <p:sldId id="273" r:id="rId8"/>
    <p:sldId id="261" r:id="rId9"/>
    <p:sldId id="274" r:id="rId10"/>
    <p:sldId id="275" r:id="rId11"/>
    <p:sldId id="276" r:id="rId12"/>
    <p:sldId id="278" r:id="rId13"/>
    <p:sldId id="279" r:id="rId14"/>
    <p:sldId id="280" r:id="rId15"/>
    <p:sldId id="281" r:id="rId16"/>
    <p:sldId id="291" r:id="rId17"/>
    <p:sldId id="264" r:id="rId18"/>
    <p:sldId id="269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2"/>
            <a:ext cx="16002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2"/>
            <a:ext cx="21717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2"/>
            <a:ext cx="16002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14B8A6"/>
                </a:solidFill>
              </a:rPr>
              <a:t>PIXEL MINDS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HFrEF AI Decision Engine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</a:rPr>
              <a:t>Trajectory-Integrated Medication Titration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65760" y="2423160"/>
            <a:ext cx="1920240" cy="822960"/>
          </a:xfrm>
          <a:prstGeom prst="rect">
            <a:avLst/>
          </a:prstGeom>
          <a:solidFill>
            <a:srgbClr val="132B5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2450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2.97M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6576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Dataset Rows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2423160"/>
            <a:ext cx="1920240" cy="822960"/>
          </a:xfrm>
          <a:prstGeom prst="rect">
            <a:avLst/>
          </a:prstGeom>
          <a:solidFill>
            <a:srgbClr val="132B5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514600" y="2450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12,247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1460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Unique Patients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2423160"/>
            <a:ext cx="1920240" cy="822960"/>
          </a:xfrm>
          <a:prstGeom prst="rect">
            <a:avLst/>
          </a:prstGeom>
          <a:solidFill>
            <a:srgbClr val="132B5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63440" y="2450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7-Step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634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Logic Engine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12280" y="2423160"/>
            <a:ext cx="1920240" cy="822960"/>
          </a:xfrm>
          <a:prstGeom prst="rect">
            <a:avLst/>
          </a:prstGeom>
          <a:solidFill>
            <a:srgbClr val="132B5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812280" y="24505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5 Drugs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1228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GDMT Classes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3429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Team: Jayachandra Galda  ·  Hema Priya Balaji  ·  Srinivasa Rao Tummalapalli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Client: Dr. Ciprian Ionita  ·  QAS.AI  |  University at Buffalo — CDA 650  |  Spring 2026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   ·   Problem   ·   Architecture   ·   Dataset   ·   Logic Engine   ·   RAG System   ·   Results   ·   Conclusion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873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PIXEL MINDS  |  HFrEF AI Decision Engine  |  QAS.AI × University at Buffalo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4B8A6"/>
                </a:solidFill>
              </a:rPr>
              <a:t>02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Why HFrEF patients aren't getting the care they need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103120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~1%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of HFrEF patients are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on all 4 drug classes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at guideline doses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210312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11887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8.4%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ARNI prescription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rate despite being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first-line therapy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097280"/>
            <a:ext cx="4023360" cy="18288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</a:rPr>
              <a:t>The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Patients seen only a few times per year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801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Condition can worsen between appointments undetected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93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Titration is manual, slow, and clinic-visit dependent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865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 No system ties sensors, labs, drugs together in real-time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8503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090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system bridges this gap through continuous wearable monitoring + automated clinical decision logic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873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PIXEL MINDS  |  HFrEF AI Decision Engine  |  QAS.AI × University at Buffalo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4B8A6"/>
                </a:solidFill>
              </a:rPr>
              <a:t>03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Clinical Background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Understanding HFrEF — The Disease, the Drugs, the Four Pillars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14800" cy="246888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HFrEF Mechanism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Heart cannot pump blood effectively (EF &lt; 40%)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Reduced cardiac output → organs starved of O₂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Body activates RAAS + sympathetic system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Fluid backup → pulmonary edema (left HF)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Cycle: Weak heart → compensation → worse function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•  </a:t>
            </a:r>
            <a:r>
              <a:rPr lang="en-US" sz="950" dirty="0">
                <a:solidFill>
                  <a:srgbClr val="FFFFFF"/>
                </a:solidFill>
              </a:rPr>
              <a:t>Formula: BP = CO × SVR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2062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1772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GDMT — The 4 Pillars (AHA/ACC 2022)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10972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RAAS Inhibitor (ARNI)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642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Sacubitril/Valsartan — blocks harmful hormonal cascade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1965960"/>
            <a:ext cx="109728" cy="384048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92040" y="1965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Beta Blocker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1671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Carvedilol/Metoprolol — slows heart, reduces workload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2468880"/>
            <a:ext cx="10972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2468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670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Spironolactone/Eplerenone — blocks aldosterone, protects heart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971800"/>
            <a:ext cx="10972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29718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SGLT2 Inhibitor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1729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Dapagliflozin/Empagliflozin — fluid balance + heart/kidney protect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630168"/>
            <a:ext cx="85496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648456"/>
            <a:ext cx="8321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788920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78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9144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INPUT: 5 Sensors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1168" y="1389888"/>
            <a:ext cx="2788920" cy="3364992"/>
          </a:xfrm>
          <a:prstGeom prst="rect">
            <a:avLst/>
          </a:prstGeom>
          <a:solidFill>
            <a:srgbClr val="DBEAFE"/>
          </a:solidFill>
          <a:ln w="1524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10896" y="1545336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157276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1508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ECG Patch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58368" y="1764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Heart rhythm &amp; arrhythmia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0896" y="216712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19456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" y="21305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Blood Pressure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238658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Systolic / diastolic mmHg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10896" y="278892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281635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27523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Heart Rate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658368" y="3008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BPM + HRV (variability)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310896" y="3410712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343814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33741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SpO₂ Sensor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658368" y="36301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Blood oxygen saturation %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310896" y="403250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4059936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" y="3995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Impedance Patch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658368" y="4251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Thoracic fluid / lung water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3008376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56DB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3172968" y="914400"/>
            <a:ext cx="27889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978408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685032" y="9144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LOGIC ENGINE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3172968" y="1389888"/>
            <a:ext cx="2788920" cy="336499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3282696" y="154533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1572768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30168" y="1508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Step 1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3630168" y="1764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Emergency safety gates</a:t>
            </a:r>
            <a:endParaRPr lang="en-US" sz="800" dirty="0"/>
          </a:p>
        </p:txBody>
      </p:sp>
      <p:sp>
        <p:nvSpPr>
          <p:cNvPr id="38" name="Shape 28"/>
          <p:cNvSpPr/>
          <p:nvPr/>
        </p:nvSpPr>
        <p:spPr>
          <a:xfrm>
            <a:off x="3282696" y="216712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8416" y="2194560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630168" y="21305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Step 2</a:t>
            </a:r>
            <a:endParaRPr lang="en-US" sz="950" dirty="0"/>
          </a:p>
        </p:txBody>
      </p:sp>
      <p:sp>
        <p:nvSpPr>
          <p:cNvPr id="41" name="Text 30"/>
          <p:cNvSpPr/>
          <p:nvPr/>
        </p:nvSpPr>
        <p:spPr>
          <a:xfrm>
            <a:off x="3630168" y="238658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Wet vs Dry classification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3282696" y="278892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416" y="2816352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630168" y="27523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Steps 3–5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3630168" y="3008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Per-drug IF-ELSE rules</a:t>
            </a:r>
            <a:endParaRPr lang="en-US" sz="800" dirty="0"/>
          </a:p>
        </p:txBody>
      </p:sp>
      <p:sp>
        <p:nvSpPr>
          <p:cNvPr id="46" name="Shape 34"/>
          <p:cNvSpPr/>
          <p:nvPr/>
        </p:nvSpPr>
        <p:spPr>
          <a:xfrm>
            <a:off x="3282696" y="341071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416" y="3438144"/>
            <a:ext cx="164592" cy="16459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3630168" y="33741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Step 6</a:t>
            </a:r>
            <a:endParaRPr lang="en-US" sz="950" dirty="0"/>
          </a:p>
        </p:txBody>
      </p:sp>
      <p:sp>
        <p:nvSpPr>
          <p:cNvPr id="49" name="Text 36"/>
          <p:cNvSpPr/>
          <p:nvPr/>
        </p:nvSpPr>
        <p:spPr>
          <a:xfrm>
            <a:off x="3630168" y="36301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MRA + SGLT2 decisions</a:t>
            </a:r>
            <a:endParaRPr lang="en-US" sz="800" dirty="0"/>
          </a:p>
        </p:txBody>
      </p:sp>
      <p:sp>
        <p:nvSpPr>
          <p:cNvPr id="50" name="Shape 37"/>
          <p:cNvSpPr/>
          <p:nvPr/>
        </p:nvSpPr>
        <p:spPr>
          <a:xfrm>
            <a:off x="3282696" y="403250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8416" y="4059936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3630168" y="3995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Step 7</a:t>
            </a:r>
            <a:endParaRPr lang="en-US" sz="950" dirty="0"/>
          </a:p>
        </p:txBody>
      </p:sp>
      <p:sp>
        <p:nvSpPr>
          <p:cNvPr id="53" name="Text 39"/>
          <p:cNvSpPr/>
          <p:nvPr/>
        </p:nvSpPr>
        <p:spPr>
          <a:xfrm>
            <a:off x="3630168" y="4251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Trajectory tracking (3 readings)</a:t>
            </a:r>
            <a:endParaRPr lang="en-US" sz="800" dirty="0"/>
          </a:p>
        </p:txBody>
      </p:sp>
      <p:sp>
        <p:nvSpPr>
          <p:cNvPr id="54" name="Text 40"/>
          <p:cNvSpPr/>
          <p:nvPr/>
        </p:nvSpPr>
        <p:spPr>
          <a:xfrm>
            <a:off x="5980176" y="23317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</a:rPr>
              <a:t>▶</a:t>
            </a:r>
            <a:endParaRPr lang="en-US" sz="1400" dirty="0"/>
          </a:p>
        </p:txBody>
      </p:sp>
      <p:sp>
        <p:nvSpPr>
          <p:cNvPr id="55" name="Shape 41"/>
          <p:cNvSpPr/>
          <p:nvPr/>
        </p:nvSpPr>
        <p:spPr>
          <a:xfrm>
            <a:off x="6144768" y="914400"/>
            <a:ext cx="2788920" cy="47548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208" y="978408"/>
            <a:ext cx="347472" cy="347472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6656832" y="9144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OUTPUT: 4 GDMT Drugs</a:t>
            </a:r>
            <a:endParaRPr lang="en-US" sz="1000" dirty="0"/>
          </a:p>
        </p:txBody>
      </p:sp>
      <p:sp>
        <p:nvSpPr>
          <p:cNvPr id="58" name="Shape 43"/>
          <p:cNvSpPr/>
          <p:nvPr/>
        </p:nvSpPr>
        <p:spPr>
          <a:xfrm>
            <a:off x="6144768" y="1389888"/>
            <a:ext cx="2788920" cy="3364992"/>
          </a:xfrm>
          <a:prstGeom prst="rect">
            <a:avLst/>
          </a:prstGeom>
          <a:solidFill>
            <a:srgbClr val="D1FAE5"/>
          </a:solidFill>
          <a:ln w="15240">
            <a:solidFill>
              <a:srgbClr val="0E9F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44"/>
          <p:cNvSpPr/>
          <p:nvPr/>
        </p:nvSpPr>
        <p:spPr>
          <a:xfrm>
            <a:off x="6254496" y="1545336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216" y="1572768"/>
            <a:ext cx="164592" cy="164592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6601968" y="1508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RAAS Inhibitor</a:t>
            </a:r>
            <a:endParaRPr lang="en-US" sz="950" dirty="0"/>
          </a:p>
        </p:txBody>
      </p:sp>
      <p:sp>
        <p:nvSpPr>
          <p:cNvPr id="62" name="Text 46"/>
          <p:cNvSpPr/>
          <p:nvPr/>
        </p:nvSpPr>
        <p:spPr>
          <a:xfrm>
            <a:off x="6601968" y="17647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Sacubitril/Valsartan (ARNI)</a:t>
            </a:r>
            <a:endParaRPr lang="en-US" sz="800" dirty="0"/>
          </a:p>
        </p:txBody>
      </p:sp>
      <p:sp>
        <p:nvSpPr>
          <p:cNvPr id="63" name="Shape 47"/>
          <p:cNvSpPr/>
          <p:nvPr/>
        </p:nvSpPr>
        <p:spPr>
          <a:xfrm>
            <a:off x="6254496" y="2167128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216" y="2194560"/>
            <a:ext cx="164592" cy="164592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6601968" y="21305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Beta Blocker</a:t>
            </a:r>
            <a:endParaRPr lang="en-US" sz="950" dirty="0"/>
          </a:p>
        </p:txBody>
      </p:sp>
      <p:sp>
        <p:nvSpPr>
          <p:cNvPr id="66" name="Text 49"/>
          <p:cNvSpPr/>
          <p:nvPr/>
        </p:nvSpPr>
        <p:spPr>
          <a:xfrm>
            <a:off x="6601968" y="238658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Carvedilol / Metoprolol</a:t>
            </a:r>
            <a:endParaRPr lang="en-US" sz="800" dirty="0"/>
          </a:p>
        </p:txBody>
      </p:sp>
      <p:sp>
        <p:nvSpPr>
          <p:cNvPr id="67" name="Shape 50"/>
          <p:cNvSpPr/>
          <p:nvPr/>
        </p:nvSpPr>
        <p:spPr>
          <a:xfrm>
            <a:off x="6254496" y="2788920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216" y="2816352"/>
            <a:ext cx="164592" cy="164592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6601968" y="27523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Diuretic</a:t>
            </a:r>
            <a:endParaRPr lang="en-US" sz="950" dirty="0"/>
          </a:p>
        </p:txBody>
      </p:sp>
      <p:sp>
        <p:nvSpPr>
          <p:cNvPr id="70" name="Text 52"/>
          <p:cNvSpPr/>
          <p:nvPr/>
        </p:nvSpPr>
        <p:spPr>
          <a:xfrm>
            <a:off x="6601968" y="30083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Furosemide (loop diuretic)</a:t>
            </a:r>
            <a:endParaRPr lang="en-US" sz="800" dirty="0"/>
          </a:p>
        </p:txBody>
      </p:sp>
      <p:sp>
        <p:nvSpPr>
          <p:cNvPr id="71" name="Shape 53"/>
          <p:cNvSpPr/>
          <p:nvPr/>
        </p:nvSpPr>
        <p:spPr>
          <a:xfrm>
            <a:off x="6254496" y="3410712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2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0216" y="3438144"/>
            <a:ext cx="164592" cy="164592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6601968" y="337413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SGLT2 Inhibitor</a:t>
            </a:r>
            <a:endParaRPr lang="en-US" sz="950" dirty="0"/>
          </a:p>
        </p:txBody>
      </p:sp>
      <p:sp>
        <p:nvSpPr>
          <p:cNvPr id="74" name="Text 55"/>
          <p:cNvSpPr/>
          <p:nvPr/>
        </p:nvSpPr>
        <p:spPr>
          <a:xfrm>
            <a:off x="6601968" y="36301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Dapagliflozin / Empagliflozin</a:t>
            </a:r>
            <a:endParaRPr lang="en-US" sz="800" dirty="0"/>
          </a:p>
        </p:txBody>
      </p:sp>
      <p:sp>
        <p:nvSpPr>
          <p:cNvPr id="75" name="Shape 56"/>
          <p:cNvSpPr/>
          <p:nvPr/>
        </p:nvSpPr>
        <p:spPr>
          <a:xfrm>
            <a:off x="6254496" y="4032504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0216" y="4059936"/>
            <a:ext cx="164592" cy="164592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6601968" y="399592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MRA</a:t>
            </a:r>
            <a:endParaRPr lang="en-US" sz="950" dirty="0"/>
          </a:p>
        </p:txBody>
      </p:sp>
      <p:sp>
        <p:nvSpPr>
          <p:cNvPr id="78" name="Text 58"/>
          <p:cNvSpPr/>
          <p:nvPr/>
        </p:nvSpPr>
        <p:spPr>
          <a:xfrm>
            <a:off x="6601968" y="4251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Spironolactone / Eplerenone</a:t>
            </a:r>
            <a:endParaRPr lang="en-US" sz="800" dirty="0"/>
          </a:p>
        </p:txBody>
      </p:sp>
      <p:sp>
        <p:nvSpPr>
          <p:cNvPr id="79" name="Shape 59"/>
          <p:cNvSpPr/>
          <p:nvPr/>
        </p:nvSpPr>
        <p:spPr>
          <a:xfrm>
            <a:off x="201168" y="4800600"/>
            <a:ext cx="8741664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60"/>
          <p:cNvSpPr/>
          <p:nvPr/>
        </p:nvSpPr>
        <p:spPr>
          <a:xfrm>
            <a:off x="292608" y="4800600"/>
            <a:ext cx="8558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F6E"/>
                </a:solidFill>
              </a:rPr>
              <a:t>Logic runs continuously. Each cycle: read sensors → check safety gates → classify fluid status → decide per-drug action → track trajectory.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6172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0840" y="0"/>
            <a:ext cx="2420874" cy="51435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</a:rPr>
              <a:t>HFrEF Final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8595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0">
                <a:solidFill>
                  <a:srgbClr val="F5A623"/>
                </a:solidFill>
              </a:rPr>
              <a:t>Creation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37460"/>
            <a:ext cx="5897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0"/>
                </a:solidFill>
              </a:rPr>
              <a:t>A step-by-step walkthrough of how
hfref_final_dataset.csv was built
from raw MIMIC-IV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3710" y="822960"/>
            <a:ext cx="21259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</a:rPr>
              <a:t>75,315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3710" y="1179576"/>
            <a:ext cx="212598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0">
                <a:solidFill>
                  <a:srgbClr val="D0F0F0"/>
                </a:solidFill>
              </a:rPr>
              <a:t>HFrEF Admissions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3710" y="1920240"/>
            <a:ext cx="21259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</a:rPr>
              <a:t>2.97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3710" y="2276856"/>
            <a:ext cx="212598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0">
                <a:solidFill>
                  <a:srgbClr val="D0F0F0"/>
                </a:solidFill>
              </a:rPr>
              <a:t>Final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3710" y="3017520"/>
            <a:ext cx="21259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3710" y="3374136"/>
            <a:ext cx="212598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0">
                <a:solidFill>
                  <a:srgbClr val="D0F0F0"/>
                </a:solidFill>
              </a:rP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3710" y="4114800"/>
            <a:ext cx="212598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50" b="1">
                <a:solidFill>
                  <a:srgbClr val="FFFFFF"/>
                </a:solidFill>
              </a:rPr>
              <a:t>12,247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3710" y="4471416"/>
            <a:ext cx="212598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0">
                <a:solidFill>
                  <a:srgbClr val="D0F0F0"/>
                </a:solidFill>
              </a:rPr>
              <a:t>Unique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3202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80A0C0"/>
                </a:solidFill>
              </a:rPr>
              <a:t>MIMIC-IV  |  Heart Failure with Reduced Ejection Fraction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873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PIXEL MINDS  |  HFrEF AI Decision Engine  |  QAS.AI × University at Buffalo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4B8A6"/>
                </a:solidFill>
              </a:rPr>
              <a:t>06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— MIMIC-IV Pipeline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MIT + Beth Israel Deaconess Medical Center · 2008–2022 · ~500K admissions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1920240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500,000+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All Admissions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(MIMIC-IV)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6712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51560"/>
            <a:ext cx="1920240" cy="1143000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75,315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HFrEF Admissions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(ICD-9/10 filtered)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0740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19202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12,247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Patients with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vitals + labs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4768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49440" y="1051560"/>
            <a:ext cx="192024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4944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2,967,494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Final Rows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(48 columns)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960120" cy="41148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23317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k.py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23500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Patient cohort selection — ICD-9/10 HFrEF codes, 8 comorbidity flags (AF, CKD, T1DM, T2DM, COPD, CM, HHD, CAD)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2331720"/>
            <a:ext cx="1234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89520" y="23317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75,315 admissions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960120" cy="41148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283464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k3.py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98448" y="285292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Vital signs extraction from chartevents — HR (220045), SBP cuff/art (220179/220050), SpO₂ (220277), RR (220210), Weight (226512)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89520" y="2834640"/>
            <a:ext cx="1234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89520" y="28346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7.8M readings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337560"/>
            <a:ext cx="960120" cy="41148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74320" y="33375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labs.py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98448" y="33558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Lab results from labevents — Creatinine, K⁺, Na⁺, BUN, eGFR, pH, anion gap, hematocrit, platelets, WBC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89520" y="3337560"/>
            <a:ext cx="1234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89520" y="33375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5.5M records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960120" cy="41148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384048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k4.py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98448" y="38587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Medications from prescriptions — 7 drug classes: Diuretics, Beta-blockers, RAAS, SGLT2, MRA, Ivabradine, Hydralazine/Nitrate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89520" y="3840480"/>
            <a:ext cx="1234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589520" y="384048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600K records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343400"/>
            <a:ext cx="960120" cy="41148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74320" y="434340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k6.py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98448" y="436168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Merge + pivot — sensor data wide format, labs rounded to hour, drugs by admission, 8 pre-calculated alert flags per row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89520" y="4343400"/>
            <a:ext cx="12344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589520" y="43434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Final 2.97M rows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4800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685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</a:rPr>
              <a:t>Pipeline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" y="617220"/>
            <a:ext cx="1645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80" y="651510"/>
            <a:ext cx="445770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4380" y="651510"/>
            <a:ext cx="44577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" y="1097280"/>
            <a:ext cx="15773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0878A"/>
                </a:solidFill>
              </a:rPr>
              <a:t>k.py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" y="1405889"/>
            <a:ext cx="15773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Identify HFrEF
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610" y="2194560"/>
            <a:ext cx="1371600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610" y="2194560"/>
            <a:ext cx="1371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75,315
admissions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7944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4530" y="617220"/>
            <a:ext cx="1645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37460" y="651510"/>
            <a:ext cx="445770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37460" y="651510"/>
            <a:ext cx="44577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8820" y="1097280"/>
            <a:ext cx="15773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0878A"/>
                </a:solidFill>
              </a:rPr>
              <a:t>k3.py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8820" y="1405889"/>
            <a:ext cx="15773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Extract
Vital Signs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1690" y="2194560"/>
            <a:ext cx="1371600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91690" y="2194560"/>
            <a:ext cx="1371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7.8 M
readings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7610" y="617220"/>
            <a:ext cx="1645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20540" y="651510"/>
            <a:ext cx="445770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0540" y="651510"/>
            <a:ext cx="44577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1097280"/>
            <a:ext cx="15773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0878A"/>
                </a:solidFill>
              </a:rPr>
              <a:t>labs.py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0" y="1405889"/>
            <a:ext cx="15773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Extract
Lab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74770" y="2194560"/>
            <a:ext cx="1371600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74770" y="2194560"/>
            <a:ext cx="1371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5.5 M
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20690" y="617220"/>
            <a:ext cx="1645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03620" y="651510"/>
            <a:ext cx="445770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3620" y="651510"/>
            <a:ext cx="44577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980" y="1097280"/>
            <a:ext cx="15773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0878A"/>
                </a:solidFill>
              </a:rPr>
              <a:t>k4.py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4980" y="1405889"/>
            <a:ext cx="15773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Extract
Drug Prescriptions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57850" y="2194560"/>
            <a:ext cx="1371600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57850" y="2194560"/>
            <a:ext cx="1371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600 K
records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7184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5A623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03770" y="617220"/>
            <a:ext cx="1645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86700" y="651510"/>
            <a:ext cx="445770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86700" y="651510"/>
            <a:ext cx="44577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8060" y="1097280"/>
            <a:ext cx="15773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0878A"/>
                </a:solidFill>
              </a:rPr>
              <a:t>k6.py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8060" y="1405889"/>
            <a:ext cx="15773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Merge Everything →
Final Dataset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40930" y="2194560"/>
            <a:ext cx="1371600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40930" y="2194560"/>
            <a:ext cx="13716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</a:rPr>
              <a:t>2.97 M
rows / 48 cols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1450" y="4046220"/>
            <a:ext cx="8778240" cy="377190"/>
          </a:xfrm>
          <a:prstGeom prst="rect">
            <a:avLst/>
          </a:prstGeom>
          <a:solidFill>
            <a:srgbClr val="E8F4F8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05740" y="4059936"/>
            <a:ext cx="864108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A4A"/>
                </a:solidFill>
              </a:rPr>
              <a:t>  Steps 2, 3 and 4 can run in parallel — all three only require the output of Step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4800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8229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Step 1 — Identifying HFrEF Patients  (k.py)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" y="582930"/>
            <a:ext cx="4046220" cy="39090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0030" y="617220"/>
            <a:ext cx="39090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878A"/>
                </a:solidFill>
              </a:rPr>
              <a:t>ICD Codes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30" y="946404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Systolic HF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3170" y="966978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03170" y="966978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I5020–I5023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030" y="1268729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Combined HF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3170" y="1289304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03170" y="1289304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I5040–I5043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30" y="1591056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LV Failure / Unspec.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03170" y="1611629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03170" y="1611629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I501, I509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030" y="1913382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End-stage / BiV / RHF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3170" y="1933956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03170" y="1933956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I5082–I5084, I50810–I50814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" y="2235708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Hypertensive HF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03170" y="2256281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3170" y="2256281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I110, I130, I132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030" y="2558033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ICD-10 — Rheumatic HF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03170" y="2578607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03170" y="2578607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I0981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030" y="2880359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ICD-9  — Systolic HF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03170" y="2900933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03170" y="2900933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42820–42823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030" y="3202686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ICD-9  — Combined HF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03170" y="3223260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03170" y="3223260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42840–42843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0030" y="3525012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ICD-9  — Unspecified HF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03170" y="3545586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03170" y="3545586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4280, 4289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030" y="3847337"/>
            <a:ext cx="226314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ICD-9  — Hypertensive HF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03170" y="3867912"/>
            <a:ext cx="1577340" cy="219456"/>
          </a:xfrm>
          <a:prstGeom prst="rect">
            <a:avLst/>
          </a:prstGeom>
          <a:solidFill>
            <a:srgbClr val="E6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03170" y="3867912"/>
            <a:ext cx="15773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878A"/>
                </a:solidFill>
              </a:rPr>
              <a:t>40201, 40211, 40291 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23410" y="582930"/>
            <a:ext cx="4526280" cy="39090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91990" y="6172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878A"/>
                </a:solidFill>
              </a:rPr>
              <a:t>Comorbidity Flags Added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1990" y="966978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91990" y="966978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has_afib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00750" y="946404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Atrial fibrillation &amp; flutter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91990" y="1364742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91990" y="1364742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has_ckd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0750" y="1344168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Chronic kidney disease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91990" y="1762506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91990" y="1762506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has_t1dm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0750" y="1741932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Type 1 diabetes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91990" y="2160269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91990" y="2160269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has_t2dm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00750" y="2139695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Type 2 diabetes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91990" y="2558033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91990" y="2558033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has_copd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00750" y="2537459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COPD &amp; emphysema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1990" y="2955797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91990" y="2955797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has_cardiomyopathy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00750" y="2935223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Cardiomyopathy (dilated, hypertrophic,
alcoholic, ischemic)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91990" y="3353562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91990" y="3353562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has_hypertensive_hd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0750" y="3332987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Hypertensive heart disease with HF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91990" y="3751326"/>
            <a:ext cx="1440180" cy="2331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91990" y="3751326"/>
            <a:ext cx="144018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has_cad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00750" y="3730752"/>
            <a:ext cx="2811779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2E"/>
                </a:solidFill>
              </a:rPr>
              <a:t>Coronary artery disease
(#1 cause of HFrEF)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1450" y="4560570"/>
            <a:ext cx="8778240" cy="37719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05740" y="4574286"/>
            <a:ext cx="864108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  Output: hfref_patients_filtered.csv  —  75,315 admissions  |  8 comorbidity flags per admission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4800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85725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Steps 2–4 — Extracting Sensors, Labs &amp; Drugs  (run in parallel)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450" y="582930"/>
            <a:ext cx="2811779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1450" y="582930"/>
            <a:ext cx="2811779" cy="37719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0030" y="596646"/>
            <a:ext cx="26746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</a:rPr>
              <a:t>Vital Signs  (k3.py)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28700"/>
            <a:ext cx="5486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Source: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28700"/>
            <a:ext cx="2057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>
                <a:solidFill>
                  <a:srgbClr val="555555"/>
                </a:solidFill>
              </a:rPr>
              <a:t>icu/chartevents.csv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610" y="1303020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Heart Rate (item 220045)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10" y="1659636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Systolic BP — cuff (220179)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610" y="2016252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Systolic BP — arterial (220050)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10" y="2372868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SpO2 (220277)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610" y="2729484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Respiratory Rate (220210)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610" y="3086100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Weight kg (226512)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030" y="4183380"/>
            <a:ext cx="2674620" cy="27432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0030" y="418338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7,844,613 readings  |  12,247 patients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0390" y="582930"/>
            <a:ext cx="2811779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0390" y="582930"/>
            <a:ext cx="2811779" cy="37719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88969" y="596646"/>
            <a:ext cx="26746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</a:rPr>
              <a:t>Lab Results  (labs.py)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260" y="1028700"/>
            <a:ext cx="5486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Source: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0" y="1028700"/>
            <a:ext cx="2057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>
                <a:solidFill>
                  <a:srgbClr val="555555"/>
                </a:solidFill>
              </a:rPr>
              <a:t>hosp/labevents.csv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7550" y="1303020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Creatinine · Potassium · Sodium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7550" y="1659636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BUN · eGFR · 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7550" y="2016252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Anion Gap · Hematocrit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7550" y="2372868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Platelets · WBC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8969" y="4183380"/>
            <a:ext cx="2674620" cy="274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88969" y="418338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5,537,380 records  |  29,333 patients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9330" y="582930"/>
            <a:ext cx="2811779" cy="394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69330" y="582930"/>
            <a:ext cx="2811779" cy="377190"/>
          </a:xfrm>
          <a:prstGeom prst="rect">
            <a:avLst/>
          </a:prstGeom>
          <a:solidFill>
            <a:srgbClr val="6A0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37909" y="596646"/>
            <a:ext cx="26746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</a:rPr>
              <a:t>Drugs  (k4.py)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028700"/>
            <a:ext cx="54864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>
                <a:solidFill>
                  <a:srgbClr val="1A1A2E"/>
                </a:solidFill>
              </a:rPr>
              <a:t>Source: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39" y="1028700"/>
            <a:ext cx="20574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>
                <a:solidFill>
                  <a:srgbClr val="555555"/>
                </a:solidFill>
              </a:rPr>
              <a:t>hosp/prescriptions.csv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89" y="1303020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Diuretics (furosemide, metolazone…)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6489" y="1659636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Beta Blockers (carvedilol, nebivolol…)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6489" y="2016252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RAAS (lisinopril, sacubitril…)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6489" y="2372868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SGLT2 (dapagliflozin, empagliflozin…)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6489" y="2729484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MRA (spironolactone, eplerenone)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6489" y="3086100"/>
            <a:ext cx="25374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>
                <a:solidFill>
                  <a:srgbClr val="1A1A2E"/>
                </a:solidFill>
              </a:rPr>
              <a:t>•  Ivabradine  |  Hydralazine/Nitrate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7909" y="4183380"/>
            <a:ext cx="2674620" cy="274320"/>
          </a:xfrm>
          <a:prstGeom prst="rect">
            <a:avLst/>
          </a:prstGeom>
          <a:solidFill>
            <a:srgbClr val="6A0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37909" y="418338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</a:rPr>
              <a:t>600,723 records  |  28,325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6172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0" y="0"/>
            <a:ext cx="2558034" cy="51435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7190" y="891540"/>
            <a:ext cx="59664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7-Step Clinical Logic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611630"/>
            <a:ext cx="59664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" b="0" i="0">
                <a:solidFill>
                  <a:srgbClr val="F5A623"/>
                </a:solidFill>
              </a:rPr>
              <a:t>HFrEF Medication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2160270"/>
            <a:ext cx="5897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5" b="0" i="0">
                <a:solidFill>
                  <a:srgbClr val="C0D8F0"/>
                </a:solidFill>
              </a:rPr>
              <a:t>A rule-based engine that reads real-time patient vitals,
lab results and comorbidities, then produces a safe
medication action for every timestamp in the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86550" y="377190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86550" y="377190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86550" y="377190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3740" y="500634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Emergency Gates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86550" y="1014984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86550" y="1014984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86550" y="1014984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3740" y="1138428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Fluid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86550" y="1652778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86550" y="1652778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86550" y="1652778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3740" y="1776222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Diuretic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86550" y="2290572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86550" y="2290572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86550" y="2290572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3740" y="2414016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86550" y="2928366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86550" y="2928366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6550" y="2928366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3740" y="3051810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Beta Blocker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86550" y="3566160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686550" y="3566160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6550" y="3566160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3740" y="3689604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SGLT2 + MRA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86550" y="4203954"/>
            <a:ext cx="2263140" cy="4937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86550" y="4203954"/>
            <a:ext cx="342900" cy="4937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86550" y="4203954"/>
            <a:ext cx="3429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2A4A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3740" y="4327398"/>
            <a:ext cx="181737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Trajectory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190" y="4732020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0" i="0">
                <a:solidFill>
                  <a:srgbClr val="80A0C0"/>
                </a:solidFill>
              </a:rPr>
              <a:t>Runs on every row of  hfref_final_dataset.csv  (2.97 M rows)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0030" y="68580"/>
            <a:ext cx="65151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</a:rPr>
              <a:t>Steps 1–4  —  Emergency  |  Fluid  |  Diuretic  |  RAAS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9420" y="102870"/>
            <a:ext cx="21945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Worked Example Patient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62356"/>
            <a:ext cx="8846820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0030" y="576072"/>
            <a:ext cx="24003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00878A"/>
                </a:solidFill>
              </a:rPr>
              <a:t>Example Patient Vitals &amp; Labs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576072"/>
            <a:ext cx="891540" cy="3566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1B2A4A"/>
                </a:solidFill>
              </a:rPr>
              <a:t>105 bpm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8123" y="576072"/>
            <a:ext cx="891540" cy="356616"/>
          </a:xfrm>
          <a:prstGeom prst="rect">
            <a:avLst/>
          </a:prstGeom>
          <a:solidFill>
            <a:srgbClr val="FFF0D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8123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SBP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8123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C02020"/>
                </a:solidFill>
              </a:rPr>
              <a:t>95 mmHg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576072"/>
            <a:ext cx="891540" cy="356616"/>
          </a:xfrm>
          <a:prstGeom prst="rect">
            <a:avLst/>
          </a:prstGeom>
          <a:solidFill>
            <a:srgbClr val="FFF0D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24528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SpO2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C02020"/>
                </a:solidFill>
              </a:rPr>
              <a:t>93%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70931" y="576072"/>
            <a:ext cx="891540" cy="356616"/>
          </a:xfrm>
          <a:prstGeom prst="rect">
            <a:avLst/>
          </a:prstGeom>
          <a:solidFill>
            <a:srgbClr val="FFF0D0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0931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Resp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931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C02020"/>
                </a:solidFill>
              </a:rPr>
              <a:t>24/min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576072"/>
            <a:ext cx="891540" cy="3566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17336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Creatinine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1B2A4A"/>
                </a:solidFill>
              </a:rPr>
              <a:t>1.8 mg/dL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63739" y="576072"/>
            <a:ext cx="891540" cy="3566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3739" y="582930"/>
            <a:ext cx="8915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0" i="0">
                <a:solidFill>
                  <a:srgbClr val="556575"/>
                </a:solidFill>
              </a:rPr>
              <a:t>Potassium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39" y="740664"/>
            <a:ext cx="891540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 i="0">
                <a:solidFill>
                  <a:srgbClr val="1B2A4A"/>
                </a:solidFill>
              </a:rPr>
              <a:t>4.2 mEq/L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0144" y="576072"/>
            <a:ext cx="891540" cy="3566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7160" y="1110996"/>
            <a:ext cx="2125980" cy="380619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7160" y="1110996"/>
            <a:ext cx="2125980" cy="30861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24" y="1124712"/>
            <a:ext cx="20231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1  —  EMERGENCY GATES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" y="1460754"/>
            <a:ext cx="19888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 i="0">
                <a:solidFill>
                  <a:srgbClr val="1A1A2E"/>
                </a:solidFill>
              </a:rPr>
              <a:t>Checks (any triggers → STOP ALL):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" y="1755648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6616" y="1700784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SpO2 &lt; 90%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1865376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SpO2 = 93%  →  NOT triggered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2050542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" y="1995678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SBP &lt; 90 mmHg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2160270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SBP  = 95 mmHg  →  NOT triggered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" y="2345436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6616" y="2290572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K⁺ &gt; 6.0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2455164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K⁺   = 4.2  →  NOT triggered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" y="2640330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" y="2585466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Creat &gt; 3.5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2750058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Cr   = 1.8  →  NOT triggered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" y="2935224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6616" y="2880360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HR &lt; 40 bpm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" y="3044952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HR   = 105 bpm  →  NOT triggered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" y="3230118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6616" y="3175254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eGFR &lt; 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" y="3339846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eGFR = 45  →  NOT triggered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" y="4608576"/>
            <a:ext cx="19888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05740" y="4608576"/>
            <a:ext cx="19888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SAFE — proceed to Step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45436" y="1110996"/>
            <a:ext cx="2125980" cy="380619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345436" y="1110996"/>
            <a:ext cx="2125980" cy="30861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00300" y="1124712"/>
            <a:ext cx="20231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2  —  FLUID 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4016" y="1460754"/>
            <a:ext cx="19888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 i="0">
                <a:solidFill>
                  <a:srgbClr val="1A1A2E"/>
                </a:solidFill>
              </a:rPr>
              <a:t>Proxy: Respiratory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7732" y="1755648"/>
            <a:ext cx="96012" cy="96012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64892" y="1700784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Resp &gt; 22  →  WET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64892" y="1865376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147A3B"/>
                </a:solidFill>
              </a:rPr>
              <a:t>Resp Rate = 24/min  ✓  MATCH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7732" y="2050542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564892" y="1995678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Resp 16–22 →  BORDERLINE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4892" y="2160270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Not matched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7732" y="2345436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564892" y="2290572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Resp &lt; 16  →  DRY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4892" y="2455164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Not matched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27732" y="2935224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64892" y="2880360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Clinical note: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64892" y="3044952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Elevated resp rate signals fluid overload.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14016" y="4608576"/>
            <a:ext cx="1988820" cy="2606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414016" y="4608576"/>
            <a:ext cx="19888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53712" y="1110996"/>
            <a:ext cx="2125980" cy="380619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B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553712" y="1110996"/>
            <a:ext cx="2125980" cy="308610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08576" y="1124712"/>
            <a:ext cx="20231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3  —  DIURETIC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22291" y="1460754"/>
            <a:ext cx="19888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 i="0">
                <a:solidFill>
                  <a:srgbClr val="1A1A2E"/>
                </a:solidFill>
              </a:rPr>
              <a:t>Fluid = WET  →  diuretic logic: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36008" y="1755648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773168" y="1700784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WET + Creat &gt; 2.0?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73168" y="1865376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Creat = 1.8  →  NO  (&lt; 2.0)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36008" y="2050542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73168" y="1995678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WET + K⁺ &lt; 3.5?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73168" y="2160270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K⁺ = 4.2  →  NO  (&gt; 3.5)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2345436"/>
            <a:ext cx="96012" cy="96012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73168" y="2290572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Both safe  →  INCREASE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73168" y="2455164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147A3B"/>
                </a:solidFill>
              </a:rPr>
              <a:t>All gates 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36008" y="2935224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773168" y="2880360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Logic: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3168" y="3044952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Increase loop diuretic dose to offload fluid.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22291" y="4608576"/>
            <a:ext cx="19888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622291" y="4608576"/>
            <a:ext cx="19888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INCREASE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61988" y="1117527"/>
            <a:ext cx="2125980" cy="3806190"/>
          </a:xfrm>
          <a:prstGeom prst="rect">
            <a:avLst/>
          </a:prstGeom>
          <a:solidFill>
            <a:srgbClr val="FFFFFF"/>
          </a:solidFill>
          <a:ln w="19050">
            <a:solidFill>
              <a:srgbClr val="5A1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761988" y="1110996"/>
            <a:ext cx="2125980" cy="308610"/>
          </a:xfrm>
          <a:prstGeom prst="rect">
            <a:avLst/>
          </a:prstGeom>
          <a:solidFill>
            <a:srgbClr val="5A1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816852" y="1124712"/>
            <a:ext cx="20231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STEP 4  —  RAAS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30568" y="1460754"/>
            <a:ext cx="198882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1" i="0">
                <a:solidFill>
                  <a:srgbClr val="1A1A2E"/>
                </a:solidFill>
              </a:rPr>
              <a:t>All 3 gates must pass for UPTITRATE: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44283" y="1755648"/>
            <a:ext cx="96012" cy="96012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981444" y="1700784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SBP ≥ 100?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81444" y="1865376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1">
                <a:solidFill>
                  <a:srgbClr val="147A3B"/>
                </a:solidFill>
              </a:rPr>
              <a:t>SBP = 95 mmHg  →  FAIL  (&lt; 100)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44283" y="2050542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981444" y="1995678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K⁺ &lt; 5.5?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81444" y="2160270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K⁺  = 4.2  →  pass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44283" y="2935224"/>
            <a:ext cx="96012" cy="96012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981444" y="2880360"/>
            <a:ext cx="857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1A1A2E"/>
                </a:solidFill>
              </a:rPr>
              <a:t>Logic: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81444" y="3044952"/>
            <a:ext cx="181737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56575"/>
                </a:solidFill>
              </a:rPr>
              <a:t>SBP too low — uptitrating ACEi/ARB risks hypotension.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30568" y="4608576"/>
            <a:ext cx="198882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830568" y="4608576"/>
            <a:ext cx="19888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HOLD  (SBP 95 &lt; 100)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0030" y="68580"/>
            <a:ext cx="65151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</a:rPr>
              <a:t>Steps 5–7  —  Beta Blocker  |  SGLT2 + MRA  | 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9420" y="102870"/>
            <a:ext cx="21945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Worked Example Patient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62356"/>
            <a:ext cx="8846820" cy="35661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1450" y="576072"/>
            <a:ext cx="87096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FFFFFF"/>
                </a:solidFill>
              </a:rPr>
              <a:t>  Patient recap:  HR = 105 bpm  |  SBP = 95 mmHg  |  SpO2 = 93%  |  Resp = 24/min  |  Fluid = WET  |  </a:t>
            </a:r>
            <a:r>
              <a:rPr sz="750" b="0" i="0" dirty="0" err="1">
                <a:solidFill>
                  <a:srgbClr val="FFFFFF"/>
                </a:solidFill>
              </a:rPr>
              <a:t>Creat</a:t>
            </a:r>
            <a:r>
              <a:rPr sz="750" b="0" i="0" dirty="0">
                <a:solidFill>
                  <a:srgbClr val="FFFFFF"/>
                </a:solidFill>
              </a:rPr>
              <a:t> = 1.8  |  K⁺ = 4.2  |  AFib = No  |  T1DM = No  |  COPD = No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973836"/>
            <a:ext cx="284607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" y="973836"/>
            <a:ext cx="2846070" cy="308610"/>
          </a:xfrm>
          <a:prstGeom prst="rect">
            <a:avLst/>
          </a:prstGeom>
          <a:solidFill>
            <a:srgbClr val="1D6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" y="987552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</a:rPr>
              <a:t>STEP 5  —  BETA BLOCKER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" y="1337310"/>
            <a:ext cx="109728" cy="150876"/>
          </a:xfrm>
          <a:prstGeom prst="rect">
            <a:avLst/>
          </a:prstGeom>
          <a:solidFill>
            <a:srgbClr val="1D6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190" y="1337310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First gate — Fluid status?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" y="1543050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5"/>
                </a:solidFill>
              </a:rPr>
              <a:t>Fluid = WET  →  Rule: 'dry before you try'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" y="1783080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WET patients must be decongested before starting/
uptitrating BB to avoid precipitating cardiogenic shock.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2345436"/>
            <a:ext cx="109728" cy="150876"/>
          </a:xfrm>
          <a:prstGeom prst="rect">
            <a:avLst/>
          </a:prstGeom>
          <a:solidFill>
            <a:srgbClr val="1D6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190" y="2345436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HR target check?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" y="2551176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5"/>
                </a:solidFill>
              </a:rPr>
              <a:t>SKIPPED — fluid gate fails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" y="2791206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(If DRY: target HR = 70 bpm; with AFib = 110 bpm)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3353562"/>
            <a:ext cx="109728" cy="150876"/>
          </a:xfrm>
          <a:prstGeom prst="rect">
            <a:avLst/>
          </a:prstGeom>
          <a:solidFill>
            <a:srgbClr val="1D6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7190" y="3353562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COPD check?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" y="3559302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5"/>
                </a:solidFill>
              </a:rPr>
              <a:t>SKIPPED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" y="3799332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(If COPD: only cardioselective BB allowed)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" y="4642866"/>
            <a:ext cx="270891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" y="4642866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SKIP  (Dry before you try)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0390" y="980367"/>
            <a:ext cx="284607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20390" y="973836"/>
            <a:ext cx="2846070" cy="308610"/>
          </a:xfrm>
          <a:prstGeom prst="rect">
            <a:avLst/>
          </a:prstGeom>
          <a:solidFill>
            <a:srgbClr val="6A0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88969" y="987552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</a:rPr>
              <a:t>STEP 6  —  SGLT2  +  MRA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2686" y="1337310"/>
            <a:ext cx="109728" cy="150876"/>
          </a:xfrm>
          <a:prstGeom prst="rect">
            <a:avLst/>
          </a:prstGeom>
          <a:solidFill>
            <a:srgbClr val="6A0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60419" y="1337310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SGLT2 — T1DM?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3834" y="1543050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5"/>
                </a:solidFill>
              </a:rPr>
              <a:t>has_t1dm = 0  →  No contraindication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3834" y="1783080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T1DM would make SGLT2 contraindicated (DKA risk).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3834" y="2791206"/>
            <a:ext cx="2640330" cy="190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 dirty="0">
                <a:solidFill>
                  <a:srgbClr val="556575"/>
                </a:solidFill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2686" y="3353562"/>
            <a:ext cx="109728" cy="150876"/>
          </a:xfrm>
          <a:prstGeom prst="rect">
            <a:avLst/>
          </a:prstGeom>
          <a:solidFill>
            <a:srgbClr val="6A0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60419" y="3353562"/>
            <a:ext cx="25374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1A1A2E"/>
                </a:solidFill>
              </a:rPr>
              <a:t>MRA — K⁺&lt;5.0, Creat≤2.5?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3834" y="3559302"/>
            <a:ext cx="264033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147A3B"/>
                </a:solidFill>
              </a:rPr>
              <a:t>K⁺=4.2 ✓    Cr=1.8 ✓  All 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3834" y="3799332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All three gates clear → safe to add/maintain spironolactone.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8969" y="4642866"/>
            <a:ext cx="270891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88969" y="4642866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2" b="1" i="0">
                <a:solidFill>
                  <a:srgbClr val="FFFFFF"/>
                </a:solidFill>
              </a:rPr>
              <a:t>SGLT2:  MAINTAIN / START 10 mg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88969" y="4375404"/>
            <a:ext cx="2708910" cy="240030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88969" y="4375404"/>
            <a:ext cx="270891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2" b="1" i="0">
                <a:solidFill>
                  <a:srgbClr val="FFFFFF"/>
                </a:solidFill>
              </a:rPr>
              <a:t>MRA:    MAINTAIN / ADD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3620" y="973836"/>
            <a:ext cx="284607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03620" y="973836"/>
            <a:ext cx="2846070" cy="308610"/>
          </a:xfrm>
          <a:prstGeom prst="rect">
            <a:avLst/>
          </a:prstGeom>
          <a:solidFill>
            <a:srgbClr val="B84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987552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</a:rPr>
              <a:t>STEP 7  —  TRAJECTORY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5916" y="1337310"/>
            <a:ext cx="109728" cy="150876"/>
          </a:xfrm>
          <a:prstGeom prst="rect">
            <a:avLst/>
          </a:prstGeom>
          <a:solidFill>
            <a:srgbClr val="B84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3650" y="1337310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Worsening? HR&gt;100 AND SBP&lt;100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7064" y="1543050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47A3B"/>
                </a:solidFill>
              </a:rPr>
              <a:t>HR=105&gt;100 ✓  AND  SBP=95&lt;100 ✓  →  BOTH TRUE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7064" y="1783080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High HR with low BP is a haemodynamic stress pattern
— consistent with decompensating heart failure.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5916" y="2345436"/>
            <a:ext cx="109728" cy="150876"/>
          </a:xfrm>
          <a:prstGeom prst="rect">
            <a:avLst/>
          </a:prstGeom>
          <a:solidFill>
            <a:srgbClr val="B84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43650" y="2345436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Improving? HR&lt;80 AND SBP&gt;110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27064" y="2551176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2020"/>
                </a:solidFill>
              </a:rPr>
              <a:t>HR=105&gt;80  →  NOT improving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27064" y="2791206"/>
            <a:ext cx="264033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1">
                <a:solidFill>
                  <a:srgbClr val="556575"/>
                </a:solidFill>
              </a:rPr>
              <a:t>Not met.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85916" y="3353562"/>
            <a:ext cx="109728" cy="150876"/>
          </a:xfrm>
          <a:prstGeom prst="rect">
            <a:avLst/>
          </a:prstGeom>
          <a:solidFill>
            <a:srgbClr val="B84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43650" y="3353562"/>
            <a:ext cx="25374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2E"/>
                </a:solidFill>
              </a:rPr>
              <a:t>Otherwise → STABLE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7064" y="3559302"/>
            <a:ext cx="264033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6575"/>
                </a:solidFill>
              </a:rPr>
              <a:t>Not reached.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4642866"/>
            <a:ext cx="2708910" cy="26060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4642866"/>
            <a:ext cx="270891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WORSENING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1714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0030" y="68580"/>
            <a:ext cx="651510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</a:rPr>
              <a:t>Full Decision Summary  —  Example Patient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9420" y="102870"/>
            <a:ext cx="219456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A623"/>
                </a:solidFill>
              </a:rPr>
              <a:t>All 7 steps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582930"/>
            <a:ext cx="3977640" cy="1405889"/>
          </a:xfrm>
          <a:prstGeom prst="rect">
            <a:avLst/>
          </a:prstGeom>
          <a:solidFill>
            <a:srgbClr val="FFFFFF"/>
          </a:solidFill>
          <a:ln w="19050">
            <a:solidFill>
              <a:srgbClr val="00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582930"/>
            <a:ext cx="3977640" cy="26060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1450" y="59664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</a:rPr>
              <a:t>  Example Patient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030" y="891540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Heart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4470" y="891540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105 bpm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891540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Elevated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" y="1049274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Systolic 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4470" y="1049274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95 mmHg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1049274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Borderline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030" y="1207008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SpO2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4470" y="1207008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1207008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Mildly reduced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030" y="1364742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Resp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4470" y="1364742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24/min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1364742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Elevated → WET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030" y="1522476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Creatinine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4470" y="1522476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1.8 mg/dL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1522476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Mild impairment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030" y="1680210"/>
            <a:ext cx="123444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0" i="0">
                <a:solidFill>
                  <a:srgbClr val="556575"/>
                </a:solidFill>
              </a:rPr>
              <a:t>Potassium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4470" y="1680210"/>
            <a:ext cx="10287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4.2 mEq/L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1680210"/>
            <a:ext cx="150876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75" b="0" i="1">
                <a:solidFill>
                  <a:srgbClr val="D46B08"/>
                </a:solidFill>
              </a:rPr>
              <a:t>Normal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82930"/>
            <a:ext cx="4732020" cy="408051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51960" y="582930"/>
            <a:ext cx="4732020" cy="26060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06824" y="596646"/>
            <a:ext cx="45948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</a:rPr>
              <a:t>  Logic Engine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06824" y="905256"/>
            <a:ext cx="48006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06824" y="90525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4890" y="90525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Emergency Gates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0780" y="905256"/>
            <a:ext cx="26746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0780" y="90525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SAFE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6824" y="1316736"/>
            <a:ext cx="480060" cy="2606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06824" y="131673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34890" y="131673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Fluid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0780" y="1316736"/>
            <a:ext cx="2674620" cy="26060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40780" y="131673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06824" y="1728216"/>
            <a:ext cx="48006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06824" y="172821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4890" y="172821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Diuretic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0780" y="1728216"/>
            <a:ext cx="26746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40780" y="172821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INCREASE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06824" y="2139696"/>
            <a:ext cx="48006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06824" y="213969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4890" y="213969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RAAS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0780" y="2139696"/>
            <a:ext cx="267462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40780" y="213969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HOLD  (SBP 95 &lt; 100)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06824" y="2551176"/>
            <a:ext cx="48006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06824" y="255117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34890" y="255117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Beta Blocker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40780" y="2551176"/>
            <a:ext cx="2674620" cy="260604"/>
          </a:xfrm>
          <a:prstGeom prst="rect">
            <a:avLst/>
          </a:prstGeom>
          <a:solidFill>
            <a:srgbClr val="D46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40780" y="255117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SKIP  (Dry before you try)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06824" y="2962656"/>
            <a:ext cx="48006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06824" y="296265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34890" y="296265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SGLT2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40780" y="2962656"/>
            <a:ext cx="26746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40780" y="296265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MAINTAIN / START 10 mg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06824" y="3374136"/>
            <a:ext cx="48006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06824" y="337413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34890" y="337413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MRA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0780" y="3374136"/>
            <a:ext cx="2674620" cy="260604"/>
          </a:xfrm>
          <a:prstGeom prst="rect">
            <a:avLst/>
          </a:prstGeom>
          <a:solidFill>
            <a:srgbClr val="14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40780" y="337413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MAINTAIN / ADD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06824" y="3785616"/>
            <a:ext cx="480060" cy="26060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06824" y="3785616"/>
            <a:ext cx="48006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34890" y="3785616"/>
            <a:ext cx="137160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2E"/>
                </a:solidFill>
              </a:rPr>
              <a:t>Trajectory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40780" y="3785616"/>
            <a:ext cx="2674620" cy="26060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40780" y="3785616"/>
            <a:ext cx="2674620" cy="260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WORSENING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" y="2091690"/>
            <a:ext cx="3977640" cy="2482596"/>
          </a:xfrm>
          <a:prstGeom prst="rect">
            <a:avLst/>
          </a:prstGeom>
          <a:solidFill>
            <a:srgbClr val="FFFFFF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37160" y="2091690"/>
            <a:ext cx="3977640" cy="26060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71450" y="210540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5" b="1" i="0" dirty="0">
                <a:solidFill>
                  <a:srgbClr val="FFFFFF"/>
                </a:solidFill>
              </a:rPr>
              <a:t>  Clinical Interpretation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0030" y="2414016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SAFE but concerning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0030" y="2564892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No single value crosses an emergency threshold, but
the combination paints a picture of decompensation.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0030" y="2784348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WET → Increase diuretic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0030" y="2935224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Elevated resp rate signals fluid overload. Escalating
furosemide is the immediate priority.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0030" y="3154680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RAAS on hold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0030" y="3305555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SBP of 95 is too low to safely uptitrate an ACE inhibitor
or ARB — risk of symptomatic hypotension.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0030" y="3525012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Beta blocker skipped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0030" y="3675888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Patient must be dried out first. Starting BB in a wet
patient can worsen output acutely.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0030" y="3895344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SGLT2 + MRA safe to continue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0030" y="4046219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All renal and electrolyte gates clear. Both drugs
provide mortality benefit — maintain doses.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0030" y="4265676"/>
            <a:ext cx="377190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2" b="1" i="0">
                <a:solidFill>
                  <a:srgbClr val="1B2A4A"/>
                </a:solidFill>
              </a:rPr>
              <a:t>Trajectory: WORSENING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0030" y="4416552"/>
            <a:ext cx="37719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7" b="0" i="0">
                <a:solidFill>
                  <a:srgbClr val="556575"/>
                </a:solidFill>
              </a:rPr>
              <a:t>HR 105 + SBP 95 is a red flag. Reassess in 1–2 hours.
Consider IV diuretics or escalation of care.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" y="4718304"/>
            <a:ext cx="8846820" cy="28803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71450" y="4732020"/>
            <a:ext cx="870966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  The logic engine generates one row of decisions per timestamp — enabling continuous, real-time medication safety monitoring across 2.97 M readings.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— 7 Research Papers Informing Our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987552"/>
            <a:ext cx="34747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01168" y="98755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AHA/ACC/HFSA 2022 HF Guidelines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3167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Foundation: 4 GDMT drugs, titration frequency, monitoring parameters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194767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01168" y="1947672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1168" y="194767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002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ACC 2024 Expert Consensus Pathway (ECDP)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2768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Wet/dry concept, trajectory monitoring, 3-gate RAAS safety check, SBP≥100 gate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168" y="290779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1168" y="2907792"/>
            <a:ext cx="347472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1168" y="290779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Wearable Sensors &amp; Remote HF Monitoring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2369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Sensor thresholds: SpO2, impedance fluid%, HRV as early warning, multi-signal fusion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386791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0E9F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01168" y="3867912"/>
            <a:ext cx="347472" cy="804672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01168" y="386791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922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Diuretic Titration &amp; Kidney Function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19709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Creatinine thresholds (&gt;50% rise=stop), K+ tiers, eGFR safety zones, wet+kidney fail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27448" y="98755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27448" y="987552"/>
            <a:ext cx="34747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27448" y="98755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1042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Beta Blocker Titration in HFrEF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66360" y="13167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Dry-before-you-try rule, exact HR targets (70bpm), COPD restriction, 3 approved drugs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27448" y="194767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27448" y="1947672"/>
            <a:ext cx="34747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27448" y="194767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66360" y="2002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RAAS Inhibitors: ACEi vs ARB vs ARNI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66360" y="227685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ARNI preference, 36hr washout rule, 3 mandatory gates, potassium binder strategy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27448" y="2907792"/>
            <a:ext cx="4251960" cy="804672"/>
          </a:xfrm>
          <a:prstGeom prst="rect">
            <a:avLst/>
          </a:prstGeom>
          <a:solidFill>
            <a:srgbClr val="F1F5F9"/>
          </a:solidFill>
          <a:ln w="1524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27448" y="2907792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27448" y="2907792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6636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SGLT2 Inhibitors &amp; MRA in HFrEF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66360" y="32369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Fixed 10mg dose, eGFR dip is normal, SGLT2 lowers K+ to protect MRA continuation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" y="4828032"/>
            <a:ext cx="8741664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92608" y="4828032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DB"/>
                </a:solidFill>
              </a:rPr>
              <a:t>Every single IF-ELSE rule in our logic engine is directly cited to one of these 7 papers — no rules are invented without clinical evidence.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873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PIXEL MINDS  |  HFrEF AI Decision Engine  |  QAS.AI × University at Buffalo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4B8A6"/>
                </a:solidFill>
              </a:rPr>
              <a:t>09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RAG System — Project Knowledge Chatbot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</a:rPr>
              <a:t>Retrieval-Augmented Generation layer on top of the project knowledge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011680" cy="1691640"/>
          </a:xfrm>
          <a:prstGeom prst="rect">
            <a:avLst/>
          </a:prstGeom>
          <a:solidFill>
            <a:srgbClr val="0B1F3E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2011680" cy="347472"/>
          </a:xfrm>
          <a:prstGeom prst="rect">
            <a:avLst/>
          </a:prstGeom>
          <a:solidFill>
            <a:srgbClr val="1A4480"/>
          </a:solidFill>
          <a:ln w="12700">
            <a:solidFill>
              <a:srgbClr val="1A44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" y="1051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Knowledge 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444752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Project context encoded as text chunks (clinical logic, dataset specs, drug rules, MIMIC-IV details)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258568" y="17373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23160" y="1051560"/>
            <a:ext cx="2011680" cy="1691640"/>
          </a:xfrm>
          <a:prstGeom prst="rect">
            <a:avLst/>
          </a:prstGeom>
          <a:solidFill>
            <a:srgbClr val="0B1F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23160" y="105156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2316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07208" y="1051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TF-IDF Retrieval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1444752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sklearn TfidfVectorizer + cosine similarity — finds top-k chunks most relevant to user query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53128" y="17373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2011680" cy="1691640"/>
          </a:xfrm>
          <a:prstGeom prst="rect">
            <a:avLst/>
          </a:prstGeom>
          <a:solidFill>
            <a:srgbClr val="0B1F3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2011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1772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1768" y="1051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Context Assembly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1444752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Top retrieved chunks concatenated as context for the LLM. Missing context = honest 'not found' reply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47688" y="17373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12280" y="1051560"/>
            <a:ext cx="2011680" cy="1691640"/>
          </a:xfrm>
          <a:prstGeom prst="rect">
            <a:avLst/>
          </a:prstGeom>
          <a:solidFill>
            <a:srgbClr val="0B1F3E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812280" y="1051560"/>
            <a:ext cx="201168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12280" y="1051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96328" y="1051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Groq LLM (Llama 3.3 70B)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03720" y="1444752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Fast inference via Groq API. Prompted as HFrEF expert assistant. Responds in bullet points, concisely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834640"/>
            <a:ext cx="4251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74320" y="287121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32004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FastAPI — REST backend (/ask, /upload, /health)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4198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Python · sklearn TF-IDF · pdfplumber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36393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Groq API — llama-3.3-70b-versatile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0040" y="38587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Startup pre-loading — knowledge in memory at boot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40782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▸  CORS enabled — connects to live website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34640"/>
            <a:ext cx="4114800" cy="1463040"/>
          </a:xfrm>
          <a:prstGeom prst="rect">
            <a:avLst/>
          </a:prstGeom>
          <a:solidFill>
            <a:srgbClr val="0A0A1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54880" y="28712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Example Interactions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2004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Q: Why does the system stop RAAS titration?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0600" y="3401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A: Three safety gates must pass — SBP ≥ 100, K⁺ &lt; 5.5, eGFR ≥ 30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0600" y="36576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Q: What dataset did you use?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38587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A: MIMIC-IV (MIT/BIDMC) — 2.97M rows, 12,247 patients, 48 columns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4114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Q: Why is SGLT2 contraindicated for some?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0060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A: Type 1 diabetes flag → absolute contraindication in our logic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E"/>
          </a:solidFill>
          <a:ln w="12700">
            <a:solidFill>
              <a:srgbClr val="0B1F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82880" y="4873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</a:rPr>
              <a:t>PIXEL MINDS  |  HFrEF AI Decision Engine  |  QAS.AI × University at Buffalo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22960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4B8A6"/>
                </a:solidFill>
              </a:rPr>
              <a:t>14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</a:rPr>
              <a:t>What we built, what we proved, what comes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188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Built a rule-based, explainable clinical decision engine grounded in AHA/ACC guidelines — every output traceable to a specific measured value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700784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700784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7190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Processed MIMIC-IV data through 5 custom scripts: 500K → 2.97M row dataset with 12,247 HFrEF patients and 48 features per row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231136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24942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7-step logic engine covers emergency gating, fluid classification, and all five GDMT drug classes with safety checks per class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61488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761488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27797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on 100-patient sample were clinically sensible across all steps — no false-safe misses, appropriate HOLD/REDUCE/ESCALATE distributions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3101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RAG chatbot layer (FastAPI + Groq Llama 3.3 70B) answers project questions from embedded knowledge base — deployed on live website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3200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382219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Live interactive website at jayachandragg.github.io/HfrEF_3 with real-time logic demo, chatbot, project book, and GitHub links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PIXEL MINDS  ·  Jayachandra Galda  ·  Hema Priya Balaji  ·  Srinivasa Rao Tummalapalli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2732</Words>
  <Application>Microsoft Office PowerPoint</Application>
  <PresentationFormat>On-screen Show (16:9)</PresentationFormat>
  <Paragraphs>483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MINDS — HFrEF AI Decision Engine</dc:title>
  <dc:subject>PptxGenJS Presentation</dc:subject>
  <dc:creator>Jayachandra Galda, Hema Priya Balaji, Srinivasa Rao Tummalapalli</dc:creator>
  <cp:lastModifiedBy>Galda Jaya Chandra</cp:lastModifiedBy>
  <cp:revision>3</cp:revision>
  <dcterms:created xsi:type="dcterms:W3CDTF">2026-04-28T20:24:22Z</dcterms:created>
  <dcterms:modified xsi:type="dcterms:W3CDTF">2026-04-29T20:48:24Z</dcterms:modified>
</cp:coreProperties>
</file>